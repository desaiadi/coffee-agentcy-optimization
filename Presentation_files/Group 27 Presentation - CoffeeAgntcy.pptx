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69BE7C-3FE7-4151-B986-FB63246B5541}">
  <a:tblStyle styleId="{8869BE7C-3FE7-4151-B986-FB63246B554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7a6f854c7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97a6f854c7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97a6f854c7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7a6f854c7_2_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97a6f854c7_2_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97a6f854c7_2_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7a6f854c7_2_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97a6f854c7_2_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97a6f854c7_2_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7a6f854c7_2_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97a6f854c7_2_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97a6f854c7_2_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7a6f854c7_2_1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97a6f854c7_2_10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97a6f854c7_2_10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7a6f854c7_2_1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97a6f854c7_2_13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97a6f854c7_2_13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7a6f854c7_2_1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97a6f854c7_2_1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97a6f854c7_2_1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7a6f854c7_2_1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97a6f854c7_2_16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97a6f854c7_2_16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-297175"/>
            <a:ext cx="109800" cy="5143500"/>
          </a:xfrm>
          <a:prstGeom prst="rect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457200" y="1645920"/>
            <a:ext cx="1005840" cy="1005840"/>
          </a:xfrm>
          <a:prstGeom prst="ellipse">
            <a:avLst/>
          </a:prstGeom>
          <a:solidFill>
            <a:srgbClr val="C9753D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457200" y="1691640"/>
            <a:ext cx="1005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☕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1737360" y="13716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Optimizing CoffeeAgntcy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1737360" y="2286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Advanced Python for Data Science  |  Group 27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1737360" y="28346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Deepali Balakrishna Ksheersagar  ·  Aditya Desai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0" y="4046225"/>
            <a:ext cx="9144000" cy="128040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212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457200" y="4201668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2.64s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57200" y="4530852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Avg Latency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651760" y="4201668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0.379 req/s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2651760" y="4530852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846320" y="4201668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∞ faster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846320" y="4530852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Cache Speedup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7040880" y="4201668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+36%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7040880" y="4530852"/>
            <a:ext cx="201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Parallel Gain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CoffeeAgntcy?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65760" y="1188720"/>
            <a:ext cx="4754880" cy="347472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640080" y="13716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Reference Implementation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640080" y="1901952"/>
            <a:ext cx="201168" cy="201168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960120" y="186537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Multi-agent system built on AGNTCY infrastructure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640080" y="2377440"/>
            <a:ext cx="201168" cy="201168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960120" y="2340864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agents: Supervisor (Buyer) ↔ Grader (Sommelier)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640080" y="2852928"/>
            <a:ext cx="201168" cy="201168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960120" y="281635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Agent-to-Agent (A2A) messaging via SLIM transport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40080" y="3328416"/>
            <a:ext cx="201168" cy="201168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960120" y="3291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LangGraph orchestrates stateful agent workflows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40080" y="3803904"/>
            <a:ext cx="201168" cy="201168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960120" y="376732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LLM-powered responses via OpenAI/litellm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40080" y="4279392"/>
            <a:ext cx="201168" cy="201168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960120" y="4242816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 via AGNTCY Observe SDK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394960" y="1188720"/>
            <a:ext cx="3383280" cy="347472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5394960" y="1234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897880" y="1737360"/>
            <a:ext cx="2560320" cy="50292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5897880" y="173736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Supervisor Agent (Exchange)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478148" y="2272350"/>
            <a:ext cx="69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A2A: SLIM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897880" y="2560320"/>
            <a:ext cx="2560320" cy="502920"/>
          </a:xfrm>
          <a:prstGeom prst="rect">
            <a:avLst/>
          </a:prstGeom>
          <a:solidFill>
            <a:srgbClr val="C9753D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897880" y="25603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SLIM Message Bus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5897880" y="3383280"/>
            <a:ext cx="2560320" cy="502920"/>
          </a:xfrm>
          <a:prstGeom prst="rect">
            <a:avLst/>
          </a:prstGeom>
          <a:solidFill>
            <a:srgbClr val="0F9B8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5897880" y="33832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Grader Agent (Farm)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16"/>
          <p:cNvCxnSpPr>
            <a:stCxn id="96" idx="2"/>
            <a:endCxn id="99" idx="0"/>
          </p:cNvCxnSpPr>
          <p:nvPr/>
        </p:nvCxnSpPr>
        <p:spPr>
          <a:xfrm>
            <a:off x="7178040" y="2240280"/>
            <a:ext cx="0" cy="320100"/>
          </a:xfrm>
          <a:prstGeom prst="straightConnector1">
            <a:avLst/>
          </a:prstGeom>
          <a:noFill/>
          <a:ln cap="flat" cmpd="sng" w="9525">
            <a:solidFill>
              <a:srgbClr val="E893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" name="Google Shape;103;p16"/>
          <p:cNvCxnSpPr>
            <a:stCxn id="99" idx="2"/>
            <a:endCxn id="101" idx="0"/>
          </p:cNvCxnSpPr>
          <p:nvPr/>
        </p:nvCxnSpPr>
        <p:spPr>
          <a:xfrm>
            <a:off x="7178040" y="3063240"/>
            <a:ext cx="0" cy="320100"/>
          </a:xfrm>
          <a:prstGeom prst="straightConnector1">
            <a:avLst/>
          </a:prstGeom>
          <a:noFill/>
          <a:ln cap="flat" cmpd="sng" w="9525">
            <a:solidFill>
              <a:srgbClr val="E8936A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Motivation &amp; Bottlenecks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Identifying performance challenges in a distributed agent workflow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65760" y="1280160"/>
            <a:ext cx="4114800" cy="100584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502920" y="13533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 Network Latency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502920" y="1700784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SLIM round-trips between exchange and farm agents add 2–3s per request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65760" y="2423160"/>
            <a:ext cx="4114800" cy="100584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502920" y="24963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Serialization Overhead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502920" y="2843784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A2A message encoding/decoding on every agent call adds CPU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65760" y="3566160"/>
            <a:ext cx="4114800" cy="100584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502920" y="36393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 Concurrency Challenges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502920" y="3986784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Sequential requests block — each waits for LLM response before next starts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4846320" y="1280160"/>
            <a:ext cx="4114800" cy="100584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4983480" y="13533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Scaling Bottlenecks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983480" y="1700784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Single farm instance with no parallel workers limits max throughput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846320" y="2423160"/>
            <a:ext cx="4114800" cy="100584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983480" y="24963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Resource Contention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4983480" y="2843784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LLM API calls dominate the event loop, starving other operations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Baseline Performance Metrics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20040" y="1143000"/>
            <a:ext cx="1965960" cy="13716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320040" y="12344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2.64s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20040" y="182880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Latency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320040" y="2148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Min 2.09s / Max 3.00s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2468880" y="1143000"/>
            <a:ext cx="1965960" cy="13716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2468880" y="12344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753D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C9753D"/>
                </a:solidFill>
                <a:latin typeface="Calibri"/>
                <a:ea typeface="Calibri"/>
                <a:cs typeface="Calibri"/>
                <a:sym typeface="Calibri"/>
              </a:rPr>
              <a:t>0.379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2468880" y="182880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 / Second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2468880" y="2148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Sequential throughput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617720" y="1143000"/>
            <a:ext cx="1965960" cy="13716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5B8D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4617720" y="12344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8DD9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5B8DD9"/>
                </a:solidFill>
                <a:latin typeface="Calibri"/>
                <a:ea typeface="Calibri"/>
                <a:cs typeface="Calibri"/>
                <a:sym typeface="Calibri"/>
              </a:rPr>
              <a:t>34.3 MiB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4617720" y="182880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Peak Memory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617720" y="2148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Client-side profiler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6766560" y="1143000"/>
            <a:ext cx="1965960" cy="13716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9B59B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6766560" y="12344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9B59B6"/>
                </a:solidFill>
                <a:latin typeface="Calibri"/>
                <a:ea typeface="Calibri"/>
                <a:cs typeface="Calibri"/>
                <a:sym typeface="Calibri"/>
              </a:rPr>
              <a:t>48.6%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6766560" y="182880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Exchange CPU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766560" y="214884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During active request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20040" y="2697480"/>
            <a:ext cx="4114800" cy="210312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0F9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457200" y="27889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9B8E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 cProfile Key Finding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57200" y="3200400"/>
            <a:ext cx="38404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onsolas"/>
                <a:ea typeface="Consolas"/>
                <a:cs typeface="Consolas"/>
                <a:sym typeface="Consolas"/>
              </a:rPr>
              <a:t>560 function calls in 2.107s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onsolas"/>
                <a:ea typeface="Consolas"/>
                <a:cs typeface="Consolas"/>
                <a:sym typeface="Consolas"/>
              </a:rPr>
              <a:t>tottime = 0.000 for ALL Python functions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onsolas"/>
                <a:ea typeface="Consolas"/>
                <a:cs typeface="Consolas"/>
                <a:sym typeface="Consolas"/>
              </a:rPr>
              <a:t>→ 99.9% of time is network I/O (urllib)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onsolas"/>
                <a:ea typeface="Consolas"/>
                <a:cs typeface="Consolas"/>
                <a:sym typeface="Consolas"/>
              </a:rPr>
              <a:t>→ Python code itself is NOT the bottleneck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onsolas"/>
                <a:ea typeface="Consolas"/>
                <a:cs typeface="Consolas"/>
                <a:sym typeface="Consolas"/>
              </a:rPr>
              <a:t>→ Optimization target: CONCURRENCY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4663440" y="2697480"/>
            <a:ext cx="4114800" cy="210312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4800600" y="27889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Profiling Tools Used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800600" y="3246120"/>
            <a:ext cx="164592" cy="164592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074920" y="320954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cProfile  —  function-level call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4800600" y="3657600"/>
            <a:ext cx="164592" cy="164592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074920" y="362102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time.perf_counter()  —  wall-clock latency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4800600" y="4069080"/>
            <a:ext cx="164592" cy="164592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074920" y="403250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memory_profiler  —  MiB usage over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800600" y="4480560"/>
            <a:ext cx="164592" cy="164592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5074920" y="444398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docker stats  —  container CPU &amp; 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Optimization Strategy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Three-layer approach applied to the CoffeeAgntcy request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274320" y="1325880"/>
            <a:ext cx="548640" cy="548640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274320" y="1325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005840" y="13258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E8936A"/>
                </a:solidFill>
                <a:latin typeface="Trebuchet MS"/>
                <a:ea typeface="Trebuchet MS"/>
                <a:cs typeface="Trebuchet MS"/>
                <a:sym typeface="Trebuchet MS"/>
              </a:rPr>
              <a:t>Asyncio + Concurrent Requests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1005840" y="1691640"/>
            <a:ext cx="4754880" cy="658368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212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1097280" y="1709928"/>
            <a:ext cx="4572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async with aiohttp.ClientSession() as 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tasks = [send(s, p) for p in prompts]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results = await asyncio.gather(*tasks)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035040" y="1417320"/>
            <a:ext cx="2834640" cy="82296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6126480" y="1435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Impact: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6126480" y="170992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Wall time: 7.92s → 6.57s  (+17%)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274320" y="2587752"/>
            <a:ext cx="548640" cy="548640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274320" y="25877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1005840" y="258775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E8936A"/>
                </a:solidFill>
                <a:latin typeface="Trebuchet MS"/>
                <a:ea typeface="Trebuchet MS"/>
                <a:cs typeface="Trebuchet MS"/>
                <a:sym typeface="Trebuchet MS"/>
              </a:rPr>
              <a:t>Response Caching (LRU)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1005840" y="2953512"/>
            <a:ext cx="4754880" cy="658368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212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1097280" y="2971800"/>
            <a:ext cx="4572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cache = {}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def cache_key(p): return md5(p).hexdigest()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if key in cache: return cache[key], 0.0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035040" y="2679192"/>
            <a:ext cx="2834640" cy="82296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 Impact: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126480" y="29718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Repeat queries: 2.64s → 0.000s  (+100%)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274320" y="3849624"/>
            <a:ext cx="548640" cy="548640"/>
          </a:xfrm>
          <a:prstGeom prst="ellipse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274320" y="38496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1005840" y="384962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500"/>
              <a:buFont typeface="Trebuchet MS"/>
              <a:buNone/>
            </a:pPr>
            <a:r>
              <a:rPr b="1" i="0" lang="en" sz="1500" u="none" cap="none" strike="noStrike">
                <a:solidFill>
                  <a:srgbClr val="E8936A"/>
                </a:solidFill>
                <a:latin typeface="Trebuchet MS"/>
                <a:ea typeface="Trebuchet MS"/>
                <a:cs typeface="Trebuchet MS"/>
                <a:sym typeface="Trebuchet MS"/>
              </a:rPr>
              <a:t>Connection Pooling + Semaphore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1005840" y="4215384"/>
            <a:ext cx="4754880" cy="658368"/>
          </a:xfrm>
          <a:prstGeom prst="rect">
            <a:avLst/>
          </a:prstGeom>
          <a:solidFill>
            <a:srgbClr val="0D0D1A"/>
          </a:solidFill>
          <a:ln cap="flat" cmpd="sng" w="12700">
            <a:solidFill>
              <a:srgbClr val="212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1097280" y="4233672"/>
            <a:ext cx="4572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connector = TCPConnector(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limit=20, keepalive_timeout=30,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  ttl_dns_cache=300)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sem = asyncio.Semaphore(3)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035040" y="3941064"/>
            <a:ext cx="2834640" cy="82296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6126480" y="39593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 Impact: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6126480" y="423367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Throughput: 0.379 → 0.514 req/s  (+36%)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DE8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Results: Before vs After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3100" y="5143500"/>
            <a:ext cx="4309200" cy="2703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1" name="Google Shape;201;p20"/>
          <p:cNvGraphicFramePr/>
          <p:nvPr/>
        </p:nvGraphicFramePr>
        <p:xfrm>
          <a:off x="4178110" y="12464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{8869BE7C-3FE7-4151-B986-FB63246B5541}</a:tableStyleId>
              </a:tblPr>
              <a:tblGrid>
                <a:gridCol w="1532150"/>
                <a:gridCol w="957600"/>
                <a:gridCol w="1053375"/>
                <a:gridCol w="766075"/>
              </a:tblGrid>
              <a:tr h="49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</a:rPr>
                        <a:t>Gain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49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Wall Time (3 req)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7.924s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6.571s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↓ 17%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Throughput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0.379 req/s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0.514 req/s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↑ 36%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Cached Throughput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0.379 req/s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4701 req/s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↑ 12,000x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Repeat Query Time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2.641s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0.000s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↓ 100%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Avg Memory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33.37 MiB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30.17 MiB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00000"/>
                          </a:solidFill>
                        </a:rPr>
                        <a:t>↓ 9.6%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02" name="Google Shape;202;p20" title="Screenshot 2026-04-23 at 5.58.3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825" y="1246425"/>
            <a:ext cx="2794700" cy="3446551"/>
          </a:xfrm>
          <a:prstGeom prst="rect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&amp; Key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65760" y="1097280"/>
            <a:ext cx="4114800" cy="155448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548640" y="12344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E8936A"/>
                </a:solidFill>
                <a:latin typeface="Trebuchet MS"/>
                <a:ea typeface="Trebuchet MS"/>
                <a:cs typeface="Trebuchet MS"/>
                <a:sym typeface="Trebuchet MS"/>
              </a:rPr>
              <a:t> Caching is the biggest win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48640" y="1627632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Repeat queries go from 2.64s → 0ms. For production agents handling similar prompts, caching is essential.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E8936A"/>
                </a:solidFill>
                <a:latin typeface="Trebuchet MS"/>
                <a:ea typeface="Trebuchet MS"/>
                <a:cs typeface="Trebuchet MS"/>
                <a:sym typeface="Trebuchet MS"/>
              </a:rPr>
              <a:t> Asyncio unlocks parallelism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937760" y="1627632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Concurrent requests reduced wall time 17%. The LLM API is the bottleneck — not Python — so async maximizes throughput.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365760" y="2834640"/>
            <a:ext cx="4114800" cy="155448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48640" y="2971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E8936A"/>
                </a:solidFill>
                <a:latin typeface="Trebuchet MS"/>
                <a:ea typeface="Trebuchet MS"/>
                <a:cs typeface="Trebuchet MS"/>
                <a:sym typeface="Trebuchet MS"/>
              </a:rPr>
              <a:t>  Connection pooling matters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548640" y="3364992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TCPConnector with keepalive + DNS caching reduced per-request overhead and improved throughput by 36%.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754880" y="2834640"/>
            <a:ext cx="4114800" cy="155448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4937760" y="297180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Trebuchet MS"/>
              <a:buNone/>
            </a:pPr>
            <a:r>
              <a:rPr b="1" i="0" lang="en" sz="1300" u="none" cap="none" strike="noStrike">
                <a:solidFill>
                  <a:srgbClr val="E8936A"/>
                </a:solidFill>
                <a:latin typeface="Trebuchet MS"/>
                <a:ea typeface="Trebuchet MS"/>
                <a:cs typeface="Trebuchet MS"/>
                <a:sym typeface="Trebuchet MS"/>
              </a:rPr>
              <a:t>cProfile reveals the truth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937760" y="3364992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DE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0EDE8"/>
                </a:solidFill>
                <a:latin typeface="Calibri"/>
                <a:ea typeface="Calibri"/>
                <a:cs typeface="Calibri"/>
                <a:sym typeface="Calibri"/>
              </a:rPr>
              <a:t>tottime=0.000 for all Python functions proved the bottleneck is network I/O, guiding us to the right optimizations.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0" y="4617720"/>
            <a:ext cx="9144000" cy="502920"/>
          </a:xfrm>
          <a:prstGeom prst="rect">
            <a:avLst/>
          </a:prstGeom>
          <a:solidFill>
            <a:srgbClr val="C9753D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Work:  Persistent Redis cache  ·  Auto-scaling farm workers  ·  Numba for serialization  ·  Request batching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36A"/>
          </a:solidFill>
          <a:ln cap="flat" cmpd="sng" w="12700">
            <a:solidFill>
              <a:srgbClr val="E89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3200400" y="73152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0" i="0" lang="en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☕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14400" y="210312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" sz="4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Group 27  ·  Deepali Balakrishna Ksheersagar  ·  Aditya Desai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914400" y="3429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github.com/agntcy/coffeeAgntcy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914400" y="4023360"/>
            <a:ext cx="1737360" cy="82296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914400" y="404164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12,000x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914400" y="44348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Cache Speedup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2834640" y="4023360"/>
            <a:ext cx="1737360" cy="82296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2834640" y="404164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↑36%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2834640" y="44348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Throughput Gain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4754880" y="4023360"/>
            <a:ext cx="1737360" cy="82296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4754880" y="404164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↓17%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4754880" y="44348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Wall 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675120" y="4023360"/>
            <a:ext cx="1737360" cy="822960"/>
          </a:xfrm>
          <a:prstGeom prst="rect">
            <a:avLst/>
          </a:prstGeom>
          <a:solidFill>
            <a:srgbClr val="212140"/>
          </a:solidFill>
          <a:ln cap="flat" cmpd="sng" w="12700">
            <a:solidFill>
              <a:srgbClr val="C975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6675120" y="404164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36A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E8936A"/>
                </a:solidFill>
                <a:latin typeface="Calibri"/>
                <a:ea typeface="Calibri"/>
                <a:cs typeface="Calibri"/>
                <a:sym typeface="Calibri"/>
              </a:rPr>
              <a:t>↓9.6%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675120" y="4434840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A0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A0A0B0"/>
                </a:solidFill>
                <a:latin typeface="Calibri"/>
                <a:ea typeface="Calibri"/>
                <a:cs typeface="Calibri"/>
                <a:sym typeface="Calibri"/>
              </a:rPr>
              <a:t>Memory Usage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